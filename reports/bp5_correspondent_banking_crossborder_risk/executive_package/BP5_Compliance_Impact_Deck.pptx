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ctrTitle"/>
          </p:nvPr>
        </p:nvSpPr>
        <p:spPr/>
        <p:txBody>
          <a:bodyPr/>
          <a:lstStyle/>
          <a:p>
            <a:r>
              <a:t>BP5: Correspondent Banking &amp; Cross-Border Wire Risk</a:t>
            </a:r>
          </a:p>
        </p:txBody>
      </p:sp>
      <p:sp>
        <p:nvSpPr>
          <p:cNvPr id="3" name="Subtitle 2"/>
          <p:cNvSpPr>
            <a:spLocks noGrp="1"/>
          </p:cNvSpPr>
          <p:nvPr>
            <p:ph type="subTitle" idx="1"/>
          </p:nvPr>
        </p:nvSpPr>
        <p:spPr/>
        <p:txBody>
          <a:bodyPr/>
          <a:lstStyle/>
          <a:p>
            <a:r>
              <a:t>Compliance-Impact Executive Briefing -- 2026-10-02T11:30:17.712275+00:00 UTC</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Business Objective</a:t>
            </a:r>
          </a:p>
        </p:txBody>
      </p:sp>
      <p:sp>
        <p:nvSpPr>
          <p:cNvPr id="3" name="Content Placeholder 2"/>
          <p:cNvSpPr>
            <a:spLocks noGrp="1"/>
          </p:cNvSpPr>
          <p:nvPr>
            <p:ph idx="1"/>
          </p:nvPr>
        </p:nvSpPr>
        <p:spPr/>
        <p:txBody>
          <a:bodyPr/>
          <a:lstStyle/>
          <a:p>
            <a:r>
              <a:t>BP5 (Correspondent Banking &amp; Cross-Border Wire Risk) targets the single highest-risk channel for sanctioned-party exposure and cross-border money-laundering flow: wires crossing a national border. It is governed by the USA PATRIOT Act Section 326 (Customer Identification Program) and Section 314(a)/(b) (cross-border information sharing), OFAC sanctions-list screening, the Wolfsberg Group's own Correspondent Banking Due Diligence Questionnaire principles, and GDPR / cross-border personal-data rules wherever a wire's KYC data crosses an EU boundary. This BP engineers 8 real, policy-derived cross-border features -- sender_country, receiver_country, is_cross_border, sender_is_foreign, receiver_is_foreign, foreign_to_foreign, sender_country_empirical_risk, receiver_country_empirical_risk -- and combines them with the platform's existing 19-feature transaction-monitoring set (27 features in total) to test whether cross-border-specific behavior carries real, additional predictive lift for the same `Is Laundering` ground-truth label BP1 uses. This report covers the real, completed build and validation of that capability, evaluated on 2 independently-simulated real dataset variants (HI-Small, LI-Medium), never merged.</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Recommendation &amp; Status</a:t>
            </a:r>
          </a:p>
        </p:txBody>
      </p:sp>
      <p:sp>
        <p:nvSpPr>
          <p:cNvPr id="3" name="Content Placeholder 2"/>
          <p:cNvSpPr>
            <a:spLocks noGrp="1"/>
          </p:cNvSpPr>
          <p:nvPr>
            <p:ph idx="1"/>
          </p:nvPr>
        </p:nvSpPr>
        <p:spPr/>
        <p:txBody>
          <a:bodyPr/>
          <a:lstStyle/>
          <a:p>
            <a:pPr>
              <a:defRPr b="1" sz="2800">
                <a:solidFill>
                  <a:srgbClr val="0CA30C"/>
                </a:solidFill>
              </a:defRPr>
            </a:pPr>
            <a:r>
              <a:t>RECOMMENDED FOR PRODUCTION</a:t>
            </a:r>
          </a:p>
          <a:p>
            <a:pPr lvl="1"/>
            <a:r>
              <a:t>Both the structural and statistical-robustness validation gates passed on every real dataset variant evaluated (HI-Small, LI-Medium).</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Champion model: XGBoost (LI-Medium variant)</a:t>
            </a:r>
          </a:p>
          <a:p>
            <a:pPr lvl="1"/>
            <a:r>
              <a:t>Real test PR-AUC: 0.1399 (273x random baseline)</a:t>
            </a:r>
          </a:p>
          <a:p>
            <a:pPr lvl="1"/>
            <a:r>
              <a:t>Precision 0.176 / Recall 0.183 / F2 0.182</a:t>
            </a:r>
          </a:p>
          <a:p>
            <a:pPr lvl="1"/>
            <a:r>
              <a:t>Two-gate verdict: PASS</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What This Means for the Business</a:t>
            </a:r>
          </a:p>
        </p:txBody>
      </p:sp>
      <p:sp>
        <p:nvSpPr>
          <p:cNvPr id="3" name="Content Placeholder 2"/>
          <p:cNvSpPr>
            <a:spLocks noGrp="1"/>
          </p:cNvSpPr>
          <p:nvPr>
            <p:ph idx="1"/>
          </p:nvPr>
        </p:nvSpPr>
        <p:spPr/>
        <p:txBody>
          <a:bodyPr/>
          <a:lstStyle/>
          <a:p>
            <a:r>
              <a:t>On LI-Medium (this BP's locked mandatory realism-validation tier), the real champion model (XGBoost) detects suspicious cross-border and domestic transactions at 272.5x the rate a random/no-skill classifier would, with both the structural and statistical-robustness validation gates passing (overall verdict: PASS).</a:t>
            </a:r>
          </a:p>
          <a:p>
            <a:pPr lvl="1"/>
            <a:r>
              <a:t>Applying the real, measured test-set precision and recall to this variant's full real transaction population (31,251,483 real transactions): the naive fixed-dollar-threshold rule this bank would otherwise rely on flags 312,512 transactions for review with only 0.1% of those actually being laundering; the real ML model's operating point flags 16,656 with 17.6% precision -- a real reduction of 298,595 false-positive alerts, ASSUMPTION-estimated at 74,649 investigator hours ($4,852,169 ($4.85M) at $65/hour) freed for real cases.</a:t>
            </a:r>
          </a:p>
          <a:p>
            <a:pPr lvl="1"/>
            <a:r>
              <a:t>On true-positive detection: the naive rule would have caught an estimated 197 of the real laundering cases in this population; the real ML model catches an estimated 537 (+340 cases) -- an illustrative regulatory-exposure-avoidance ASSUMPTION of $17,000,000 ($17.00M) (+340 cases @ $50,000/case), deliberately never summed with the false-positive-reduction savings above (two separate benefit lines, per this platform's locked reporting policy).</a:t>
            </a:r>
          </a:p>
          <a:p>
            <a:pPr lvl="1"/>
            <a:r>
              <a:t>The cross-border-specific features this BP adds carry real, independent signal: real SHAP analysis ranks sender_country_empirical_risk as the top cross-border feature's global importance on LI-Medium -- this is a feature BP1's own transaction-monitoring feature set does not have, giving this capability detection power on correspondent-banking / cross-border wire risk that BP1 alone does not carry.</a:t>
            </a:r>
          </a:p>
          <a:p>
            <a:pPr lvl="1"/>
            <a:r>
              <a:t>A real, self-tested FastAPI-style scoring self-test already exists for this model (Notebook 3's self-test matched direct batch predictions bit-for-bit on every real row checked: 5,000 rows checked, 0 mismatches), so the SCORING LOGIC is deployment-ready. The standalone deployable service module and its test suite are not yet extracted (see DISCLOSED GAP below), so the Docker image this notebook packages will not yet build and run end-to-end.</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Model Performance by Dataset Variant</a:t>
            </a:r>
          </a:p>
        </p:txBody>
      </p:sp>
      <p:sp>
        <p:nvSpPr>
          <p:cNvPr id="3" name="Rectangle 2"/>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8229600" cy="109728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r>
                        <a:t>Variant</a:t>
                      </a:r>
                    </a:p>
                  </a:txBody>
                  <a:tcPr/>
                </a:tc>
                <a:tc>
                  <a:txBody>
                    <a:bodyPr/>
                    <a:lstStyle/>
                    <a:p>
                      <a:r>
                        <a:t>Champion</a:t>
                      </a:r>
                    </a:p>
                  </a:txBody>
                  <a:tcPr/>
                </a:tc>
                <a:tc>
                  <a:txBody>
                    <a:bodyPr/>
                    <a:lstStyle/>
                    <a:p>
                      <a:r>
                        <a:t>Test PR-AUC</a:t>
                      </a:r>
                    </a:p>
                  </a:txBody>
                  <a:tcPr/>
                </a:tc>
                <a:tc>
                  <a:txBody>
                    <a:bodyPr/>
                    <a:lstStyle/>
                    <a:p>
                      <a:r>
                        <a:t>Precision/Recall</a:t>
                      </a:r>
                    </a:p>
                  </a:txBody>
                  <a:tcPr/>
                </a:tc>
                <a:tc>
                  <a:txBody>
                    <a:bodyPr/>
                    <a:lstStyle/>
                    <a:p>
                      <a:r>
                        <a:t>Verdict</a:t>
                      </a:r>
                    </a:p>
                  </a:txBody>
                  <a:tcPr/>
                </a:tc>
              </a:tr>
              <a:tr h="365760">
                <a:tc>
                  <a:txBody>
                    <a:bodyPr/>
                    <a:lstStyle/>
                    <a:p>
                      <a:r>
                        <a:t>HI-Small</a:t>
                      </a:r>
                    </a:p>
                  </a:txBody>
                  <a:tcPr/>
                </a:tc>
                <a:tc>
                  <a:txBody>
                    <a:bodyPr/>
                    <a:lstStyle/>
                    <a:p>
                      <a:r>
                        <a:t>XGBoost</a:t>
                      </a:r>
                    </a:p>
                  </a:txBody>
                  <a:tcPr/>
                </a:tc>
                <a:tc>
                  <a:txBody>
                    <a:bodyPr/>
                    <a:lstStyle/>
                    <a:p>
                      <a:r>
                        <a:t>0.4306</a:t>
                      </a:r>
                    </a:p>
                  </a:txBody>
                  <a:tcPr/>
                </a:tc>
                <a:tc>
                  <a:txBody>
                    <a:bodyPr/>
                    <a:lstStyle/>
                    <a:p>
                      <a:r>
                        <a:t>0.394 / 0.487</a:t>
                      </a:r>
                    </a:p>
                  </a:txBody>
                  <a:tcPr/>
                </a:tc>
                <a:tc>
                  <a:txBody>
                    <a:bodyPr/>
                    <a:lstStyle/>
                    <a:p>
                      <a:r>
                        <a:t>PASS</a:t>
                      </a:r>
                    </a:p>
                  </a:txBody>
                  <a:tcPr/>
                </a:tc>
              </a:tr>
              <a:tr h="365760">
                <a:tc>
                  <a:txBody>
                    <a:bodyPr/>
                    <a:lstStyle/>
                    <a:p>
                      <a:r>
                        <a:t>LI-Medium</a:t>
                      </a:r>
                    </a:p>
                  </a:txBody>
                  <a:tcPr/>
                </a:tc>
                <a:tc>
                  <a:txBody>
                    <a:bodyPr/>
                    <a:lstStyle/>
                    <a:p>
                      <a:r>
                        <a:t>XGBoost</a:t>
                      </a:r>
                    </a:p>
                  </a:txBody>
                  <a:tcPr/>
                </a:tc>
                <a:tc>
                  <a:txBody>
                    <a:bodyPr/>
                    <a:lstStyle/>
                    <a:p>
                      <a:r>
                        <a:t>0.1399</a:t>
                      </a:r>
                    </a:p>
                  </a:txBody>
                  <a:tcPr/>
                </a:tc>
                <a:tc>
                  <a:txBody>
                    <a:bodyPr/>
                    <a:lstStyle/>
                    <a:p>
                      <a:r>
                        <a:t>0.176 / 0.183</a:t>
                      </a:r>
                    </a:p>
                  </a:txBody>
                  <a:tcPr/>
                </a:tc>
                <a:tc>
                  <a:txBody>
                    <a:bodyPr/>
                    <a:lstStyle/>
                    <a:p>
                      <a:r>
                        <a:t>PASS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Before / After Impact (LI-Medium)</a:t>
            </a:r>
          </a:p>
        </p:txBody>
      </p:sp>
      <p:sp>
        <p:nvSpPr>
          <p:cNvPr id="3" name="Rectangle 2"/>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before_after_chart.png"/>
          <p:cNvPicPr>
            <a:picLocks noChangeAspect="1"/>
          </p:cNvPicPr>
          <p:nvPr/>
        </p:nvPicPr>
        <p:blipFill>
          <a:blip r:embed="rId2"/>
          <a:stretch>
            <a:fillRect/>
          </a:stretch>
        </p:blipFill>
        <p:spPr>
          <a:xfrm>
            <a:off x="457200" y="1188720"/>
            <a:ext cx="8229600" cy="43205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Financial Impact Summary (LI-Medium)</a:t>
            </a:r>
          </a:p>
        </p:txBody>
      </p:sp>
      <p:sp>
        <p:nvSpPr>
          <p:cNvPr id="3" name="Content Placeholder 2"/>
          <p:cNvSpPr>
            <a:spLocks noGrp="1"/>
          </p:cNvSpPr>
          <p:nvPr>
            <p:ph idx="1"/>
          </p:nvPr>
        </p:nvSpPr>
        <p:spPr/>
        <p:txBody>
          <a:bodyPr/>
          <a:lstStyle/>
          <a:p>
            <a:r>
              <a:t>False-positive-reduction savings (ASSUMPTION): $4,852,169 ($4.85M)</a:t>
            </a:r>
          </a:p>
          <a:p>
            <a:pPr lvl="1"/>
            <a:r>
              <a:t>74,649 investigator hours freed, 298,595 fewer false-positive alerts</a:t>
            </a:r>
          </a:p>
          <a:p>
            <a:pPr lvl="1"/>
            <a:r>
              <a:t>True-positive-uplift illustrative regulatory-exposure-avoidance (ASSUMPTION): $17,000,000 ($17.00M)</a:t>
            </a:r>
          </a:p>
          <a:p>
            <a:pPr lvl="1"/>
            <a:r>
              <a:t>+340 additional real cases caught vs. the naive baseline</a:t>
            </a:r>
          </a:p>
          <a:p>
            <a:pPr lvl="1"/>
            <a:r>
              <a:t>These two figures are never summed into one blended total (locked Section 7A policy).</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Key Recommendations</a:t>
            </a:r>
          </a:p>
        </p:txBody>
      </p:sp>
      <p:sp>
        <p:nvSpPr>
          <p:cNvPr id="3" name="Content Placeholder 2"/>
          <p:cNvSpPr>
            <a:spLocks noGrp="1"/>
          </p:cNvSpPr>
          <p:nvPr>
            <p:ph idx="1"/>
          </p:nvPr>
        </p:nvSpPr>
        <p:spPr/>
        <p:txBody>
          <a:bodyPr/>
          <a:lstStyle/>
          <a:p>
            <a:r>
              <a:t>Recalibrate the alert threshold on a fixed cadence</a:t>
            </a:r>
          </a:p>
          <a:p>
            <a:pPr lvl="1"/>
            <a:r>
              <a:t>The champion model (XGBoost) currently operates at a real decision threshold of 0.9814 on LI-Medium, yielding real precision 0.176 and recall 0.183.</a:t>
            </a:r>
          </a:p>
          <a:p>
            <a:r>
              <a:t>Reallocate freed investigator capacity from the real false-positive reduction</a:t>
            </a:r>
          </a:p>
          <a:p>
            <a:pPr lvl="1"/>
            <a:r>
              <a:t>Moving from the naive fixed-dollar rule to the real ML model reduces false-positive alerts by 298,595 on LI-Medium (ASSUMPTION-estimated at 74,649 investigator hours, $4,852,169 ($4.85M)).</a:t>
            </a:r>
          </a:p>
          <a:p>
            <a:r>
              <a:t>Validate the real true-positive uplift against filed SARs</a:t>
            </a:r>
          </a:p>
          <a:p>
            <a:pPr lvl="1"/>
            <a:r>
              <a:t>The real ML model's operating point is estimated to catch +340 more real laundering cases than the naive rule on LI-Medium (illustrative regulatory-exposure-avoidance ASSUMPTION: $17,000,000 ($17.00M)).</a:t>
            </a:r>
          </a:p>
          <a:p>
            <a:r>
              <a:t>Document the dominant real model driver for examiner review</a:t>
            </a:r>
          </a:p>
          <a:p>
            <a:pPr lvl="1"/>
            <a:r>
              <a:t>Real SHAP analysis ranks 'Payment Format' as the model's dominant real driver on LI-Medium.</a:t>
            </a:r>
          </a:p>
          <a:p>
            <a:r>
              <a:t>Maintain the real two-gate validation standard on every future retrain</a:t>
            </a:r>
          </a:p>
          <a:p>
            <a:pPr lvl="1"/>
            <a:r>
              <a:t>Every real dataset variant evaluated for BP5 currently passes both validation gates (HI-Small, LI-Medium).</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Regulatory &amp; Compliance Mapping</a:t>
            </a:r>
          </a:p>
        </p:txBody>
      </p:sp>
      <p:sp>
        <p:nvSpPr>
          <p:cNvPr id="3" name="Content Placeholder 2"/>
          <p:cNvSpPr>
            <a:spLocks noGrp="1"/>
          </p:cNvSpPr>
          <p:nvPr>
            <p:ph idx="1"/>
          </p:nvPr>
        </p:nvSpPr>
        <p:spPr/>
        <p:txBody>
          <a:bodyPr/>
          <a:lstStyle/>
          <a:p>
            <a:r>
              <a:t>Bank Secrecy Act (31 U.S.C. Section 5311)</a:t>
            </a:r>
          </a:p>
          <a:p>
            <a:pPr lvl="1"/>
            <a:r>
              <a:t>USA PATRIOT Act Section 326 (Customer Identification Program) (BP5 -- correspondent-banking account onboarding)</a:t>
            </a:r>
          </a:p>
          <a:p>
            <a:pPr lvl="1"/>
            <a:r>
              <a:t>USA PATRIOT Act Section 314(a)/(b) (cross-border information sharing) (BP5 -- this BP's own named cross-border information-sharing obligation)</a:t>
            </a:r>
          </a:p>
          <a:p>
            <a:pPr lvl="1"/>
            <a:r>
              <a:t>OFAC sanctions-list screening (BP5 -- Not Possible - Data Limitation on this dataset (see Caveats/Fairness))</a:t>
            </a:r>
          </a:p>
          <a:p>
            <a:pPr lvl="1"/>
            <a:r>
              <a:t>Wolfsberg Group Correspondent Banking Due Diligence Questionnaire (CBDDQ) principles (BP5 -- correspondent-banking relationship due diligence)</a:t>
            </a:r>
          </a:p>
          <a:p>
            <a:pPr lvl="1"/>
            <a:r>
              <a:t>GDPR / cross-border personal-data-handling rules (BP5 -- flagged for completeness; this dataset is fully synthetic, so no real GDPR obligation is actually triggered)</a:t>
            </a:r>
          </a:p>
          <a:p>
            <a:pPr lvl="1"/>
            <a:r>
              <a:t>FinCEN SAR filing requirements (31 CFR Section 1020.320) (BP1, BP4, BP5 (evidence feed, not itself a SAR-prediction model))</a:t>
            </a:r>
          </a:p>
          <a:p>
            <a:pPr lvl="1"/>
            <a:r>
              <a:t>FFIEC BSA/AML Examination Manual (5 pillars) (Platform-wide)</a:t>
            </a:r>
          </a:p>
          <a:p>
            <a:pPr lvl="1"/>
            <a:r>
              <a:t>SR 11-7 Model Risk Management (Every model-bearing BP)</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