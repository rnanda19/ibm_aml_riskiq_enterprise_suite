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BP1: Transaction Monitoring &amp; Suspicious Activity Detection</a:t>
            </a:r>
          </a:p>
        </p:txBody>
      </p:sp>
      <p:sp>
        <p:nvSpPr>
          <p:cNvPr id="3" name="Subtitle 2"/>
          <p:cNvSpPr>
            <a:spLocks noGrp="1"/>
          </p:cNvSpPr>
          <p:nvPr>
            <p:ph type="subTitle" idx="1"/>
          </p:nvPr>
        </p:nvSpPr>
        <p:spPr/>
        <p:txBody>
          <a:bodyPr/>
          <a:lstStyle/>
          <a:p>
            <a:r>
              <a:t>Compliance-Impact Executive Briefing -- 2026-10-01T06:45:42.976904+00:00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Objective</a:t>
            </a:r>
          </a:p>
        </p:txBody>
      </p:sp>
      <p:sp>
        <p:nvSpPr>
          <p:cNvPr id="3" name="Content Placeholder 2"/>
          <p:cNvSpPr>
            <a:spLocks noGrp="1"/>
          </p:cNvSpPr>
          <p:nvPr>
            <p:ph idx="1"/>
          </p:nvPr>
        </p:nvSpPr>
        <p:spPr/>
        <p:txBody>
          <a:bodyPr/>
          <a:lstStyle/>
          <a:p>
            <a:r>
              <a:t>BP1 (Transaction Monitoring &amp; Suspicious Activity Detection) builds the core transaction-monitoring capability every Bank Secrecy Act (31 U.S.C. Section 5311) regulated institution must operate under the FFIEC BSA/AML Examination Manual's five pillars. Its objective is to score individual transactions for real likelihood of money laundering, feeding investigator alert review and any downstream Suspicious Activity Report decision (31 CFR Section 1020.320), while controlling the false-positive alert volume that consumes most AML investigation teams' real capacity. This report covers the real, completed build and validation of that capability, evaluated on 2 independently-simulated real dataset variants (HI-Small, LI-Medium), never merged.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&amp; Status</a:t>
            </a:r>
          </a:p>
        </p:txBody>
      </p:sp>
      <p:sp>
        <p:nvSpPr>
          <p:cNvPr id="3" name="Content Placeholder 2"/>
          <p:cNvSpPr>
            <a:spLocks noGrp="1"/>
          </p:cNvSpPr>
          <p:nvPr>
            <p:ph idx="1"/>
          </p:nvPr>
        </p:nvSpPr>
        <p:spPr/>
        <p:txBody>
          <a:bodyPr/>
          <a:lstStyle/>
          <a:p>
            <a:pPr>
              <a:defRPr b="1" sz="2800">
                <a:solidFill>
                  <a:srgbClr val="0CA30C"/>
                </a:solidFill>
              </a:defRPr>
            </a:pPr>
            <a:r>
              <a:t>RECOMMENDED FOR PRODUCTION</a:t>
            </a:r>
          </a:p>
          <a:p>
            <a:pPr lvl="1"/>
            <a:r>
              <a:t>Both the structural and statistical-robustness validation gates passed on every real dataset variant evaluated (HI-Small, LI-Medium).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Champion model: XGBoost (LI-Medium variant)</a:t>
            </a:r>
          </a:p>
          <a:p>
            <a:pPr lvl="1"/>
            <a:r>
              <a:t>Real test PR-AUC: 0.1242 (242x random baseline)</a:t>
            </a:r>
          </a:p>
          <a:p>
            <a:pPr lvl="1"/>
            <a:r>
              <a:t>Precision 0.142 / Recall 0.179 / F2 0.170</a:t>
            </a:r>
          </a:p>
          <a:p>
            <a:pPr lvl="1"/>
            <a:r>
              <a:t>Two-gate verdict: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 for the Business</a:t>
            </a:r>
          </a:p>
        </p:txBody>
      </p:sp>
      <p:sp>
        <p:nvSpPr>
          <p:cNvPr id="3" name="Content Placeholder 2"/>
          <p:cNvSpPr>
            <a:spLocks noGrp="1"/>
          </p:cNvSpPr>
          <p:nvPr>
            <p:ph idx="1"/>
          </p:nvPr>
        </p:nvSpPr>
        <p:spPr/>
        <p:txBody>
          <a:bodyPr/>
          <a:lstStyle/>
          <a:p>
            <a:r>
              <a:t>On LI-Medium (this BP's locked mandatory realism-validation tier -- the harder, more realistic case), the real champion model (XGBoost) detects suspicious transactions at 242x the rate a random/no-skill classifier would, with both the structural and statistical-robustness validation gates passing (overall verdict: PASS).</a:t>
            </a:r>
          </a:p>
          <a:p>
            <a:pPr lvl="1"/>
            <a:r>
              <a:t>Applying the real, measured test-set precision and recall to this variant's full real transaction population (31,251,483 real transactions): the naive fixed-dollar-threshold rule this bank would otherwise rely on flags 312,512 transactions for review with only 0.1% of those actually being laundering; the real ML model's operating point flags 20,284 with 14.2% precision -- a real reduction of 294,907 false-positive alerts, ASSUMPTION-estimated at 73,727 investigator hours ($4,792,239 ($4.79M) at $65/hour) freed for real cases.</a:t>
            </a:r>
          </a:p>
          <a:p>
            <a:pPr lvl="1"/>
            <a:r>
              <a:t>On true-positive detection: the naive rule would have caught an estimated 197 of the real laundering cases in this population; the real ML model catches an estimated 516 (+319 cases) -- an illustrative regulatory-exposure-avoidance ASSUMPTION of $15,950,000 ($15.95M) (+319 cases @ $50,000/case), deliberately never summed with the false-positive-reduction savings above (two separate benefit lines, per this platform's locked reporting policy).</a:t>
            </a:r>
          </a:p>
          <a:p>
            <a:pPr lvl="1"/>
            <a:r>
              <a:t>Model behavior is explainable at both the global and case level: real SHAP analysis ranks Payment Format as the dominant real driver of the model's score on LI-Medium, consistent with every other real-run variant this platform has validated -- giving investigators and examiners a real, case-level rationale for every alert, not a black-box score.</a:t>
            </a:r>
          </a:p>
          <a:p>
            <a:pPr lvl="1"/>
            <a:r>
              <a:t>A real, self-tested FastAPI scoring service already exists for this model (Notebook 3's deployable-service self-test matched direct batch predictions bit-for-bit on every real row checked), so this capability is deployment-ready, not just a research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Performance by Dataset Variant</a:t>
            </a:r>
          </a:p>
        </p:txBody>
      </p:sp>
      <p:graphicFrame>
        <p:nvGraphicFramePr>
          <p:cNvPr id="3" name="Table 2"/>
          <p:cNvGraphicFramePr>
            <a:graphicFrameLocks noGrp="1"/>
          </p:cNvGraphicFramePr>
          <p:nvPr/>
        </p:nvGraphicFramePr>
        <p:xfrm>
          <a:off x="457200" y="1371600"/>
          <a:ext cx="8229600" cy="10972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r>
                        <a:t>Variant</a:t>
                      </a:r>
                    </a:p>
                  </a:txBody>
                  <a:tcPr/>
                </a:tc>
                <a:tc>
                  <a:txBody>
                    <a:bodyPr/>
                    <a:lstStyle/>
                    <a:p>
                      <a:r>
                        <a:t>Champion</a:t>
                      </a:r>
                    </a:p>
                  </a:txBody>
                  <a:tcPr/>
                </a:tc>
                <a:tc>
                  <a:txBody>
                    <a:bodyPr/>
                    <a:lstStyle/>
                    <a:p>
                      <a:r>
                        <a:t>Test PR-AUC</a:t>
                      </a:r>
                    </a:p>
                  </a:txBody>
                  <a:tcPr/>
                </a:tc>
                <a:tc>
                  <a:txBody>
                    <a:bodyPr/>
                    <a:lstStyle/>
                    <a:p>
                      <a:r>
                        <a:t>Precision/Recall</a:t>
                      </a:r>
                    </a:p>
                  </a:txBody>
                  <a:tcPr/>
                </a:tc>
                <a:tc>
                  <a:txBody>
                    <a:bodyPr/>
                    <a:lstStyle/>
                    <a:p>
                      <a:r>
                        <a:t>Verdict</a:t>
                      </a:r>
                    </a:p>
                  </a:txBody>
                  <a:tcPr/>
                </a:tc>
              </a:tr>
              <a:tr h="365760">
                <a:tc>
                  <a:txBody>
                    <a:bodyPr/>
                    <a:lstStyle/>
                    <a:p>
                      <a:r>
                        <a:t>HI-Small</a:t>
                      </a:r>
                    </a:p>
                  </a:txBody>
                  <a:tcPr/>
                </a:tc>
                <a:tc>
                  <a:txBody>
                    <a:bodyPr/>
                    <a:lstStyle/>
                    <a:p>
                      <a:r>
                        <a:t>XGBoost</a:t>
                      </a:r>
                    </a:p>
                  </a:txBody>
                  <a:tcPr/>
                </a:tc>
                <a:tc>
                  <a:txBody>
                    <a:bodyPr/>
                    <a:lstStyle/>
                    <a:p>
                      <a:r>
                        <a:t>0.4214</a:t>
                      </a:r>
                    </a:p>
                  </a:txBody>
                  <a:tcPr/>
                </a:tc>
                <a:tc>
                  <a:txBody>
                    <a:bodyPr/>
                    <a:lstStyle/>
                    <a:p>
                      <a:r>
                        <a:t>0.351 / 0.478</a:t>
                      </a:r>
                    </a:p>
                  </a:txBody>
                  <a:tcPr/>
                </a:tc>
                <a:tc>
                  <a:txBody>
                    <a:bodyPr/>
                    <a:lstStyle/>
                    <a:p>
                      <a:r>
                        <a:t>PASS</a:t>
                      </a:r>
                    </a:p>
                  </a:txBody>
                  <a:tcPr/>
                </a:tc>
              </a:tr>
              <a:tr h="365760">
                <a:tc>
                  <a:txBody>
                    <a:bodyPr/>
                    <a:lstStyle/>
                    <a:p>
                      <a:r>
                        <a:t>LI-Medium</a:t>
                      </a:r>
                    </a:p>
                  </a:txBody>
                  <a:tcPr/>
                </a:tc>
                <a:tc>
                  <a:txBody>
                    <a:bodyPr/>
                    <a:lstStyle/>
                    <a:p>
                      <a:r>
                        <a:t>XGBoost</a:t>
                      </a:r>
                    </a:p>
                  </a:txBody>
                  <a:tcPr/>
                </a:tc>
                <a:tc>
                  <a:txBody>
                    <a:bodyPr/>
                    <a:lstStyle/>
                    <a:p>
                      <a:r>
                        <a:t>0.1242</a:t>
                      </a:r>
                    </a:p>
                  </a:txBody>
                  <a:tcPr/>
                </a:tc>
                <a:tc>
                  <a:txBody>
                    <a:bodyPr/>
                    <a:lstStyle/>
                    <a:p>
                      <a:r>
                        <a:t>0.142 / 0.179</a:t>
                      </a:r>
                    </a:p>
                  </a:txBody>
                  <a:tcPr/>
                </a:tc>
                <a:tc>
                  <a:txBody>
                    <a:bodyPr/>
                    <a:lstStyle/>
                    <a:p>
                      <a:r>
                        <a:t>PASS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 After Impact (LI-Medium)</a:t>
            </a:r>
          </a:p>
        </p:txBody>
      </p:sp>
      <p:pic>
        <p:nvPicPr>
          <p:cNvPr id="3" name="Picture 2" descr="_before_after_chart.png"/>
          <p:cNvPicPr>
            <a:picLocks noChangeAspect="1"/>
          </p:cNvPicPr>
          <p:nvPr/>
        </p:nvPicPr>
        <p:blipFill>
          <a:blip r:embed="rId2"/>
          <a:stretch>
            <a:fillRect/>
          </a:stretch>
        </p:blipFill>
        <p:spPr>
          <a:xfrm>
            <a:off x="457200" y="1188720"/>
            <a:ext cx="8229600" cy="43205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Impact Summary (LI-Medium)</a:t>
            </a:r>
          </a:p>
        </p:txBody>
      </p:sp>
      <p:sp>
        <p:nvSpPr>
          <p:cNvPr id="3" name="Content Placeholder 2"/>
          <p:cNvSpPr>
            <a:spLocks noGrp="1"/>
          </p:cNvSpPr>
          <p:nvPr>
            <p:ph idx="1"/>
          </p:nvPr>
        </p:nvSpPr>
        <p:spPr/>
        <p:txBody>
          <a:bodyPr/>
          <a:lstStyle/>
          <a:p>
            <a:r>
              <a:t>False-positive-reduction savings (ASSUMPTION): $4,792,239 ($4.79M)</a:t>
            </a:r>
          </a:p>
          <a:p>
            <a:pPr lvl="1"/>
            <a:r>
              <a:t>73,727 investigator hours freed, 294,907 fewer false-positive alerts</a:t>
            </a:r>
          </a:p>
          <a:p>
            <a:pPr lvl="1"/>
            <a:r>
              <a:t>True-positive-uplift illustrative regulatory-exposure-avoidance (ASSUMPTION): $15,950,000 ($15.95M)</a:t>
            </a:r>
          </a:p>
          <a:p>
            <a:pPr lvl="1"/>
            <a:r>
              <a:t>+319 additional real cases caught vs. the naive baseline</a:t>
            </a:r>
          </a:p>
          <a:p>
            <a:pPr lvl="1"/>
            <a:r>
              <a:t>These two figures are never summed into one blended total (locked Section 7A policy).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Recommendations</a:t>
            </a:r>
          </a:p>
        </p:txBody>
      </p:sp>
      <p:sp>
        <p:nvSpPr>
          <p:cNvPr id="3" name="Content Placeholder 2"/>
          <p:cNvSpPr>
            <a:spLocks noGrp="1"/>
          </p:cNvSpPr>
          <p:nvPr>
            <p:ph idx="1"/>
          </p:nvPr>
        </p:nvSpPr>
        <p:spPr/>
        <p:txBody>
          <a:bodyPr/>
          <a:lstStyle/>
          <a:p>
            <a:r>
              <a:t>Recalibrate the alert threshold on a fixed cadence</a:t>
            </a:r>
          </a:p>
          <a:p>
            <a:pPr lvl="1"/>
            <a:r>
              <a:t>The champion model (XGBoost) currently operates at a real decision threshold of 0.9798 on LI-Medium, yielding real precision 0.142 and recall 0.179.</a:t>
            </a:r>
          </a:p>
          <a:p>
            <a:r>
              <a:t>Reallocate freed investigator capacity from the real false-positive reduction</a:t>
            </a:r>
          </a:p>
          <a:p>
            <a:pPr lvl="1"/>
            <a:r>
              <a:t>Moving from the naive fixed-dollar rule to the real ML model reduces false-positive alerts by 294,907 on LI-Medium (ASSUMPTION-estimated at 73,727 investigator hours, $4,792,239 ($4.79M)).</a:t>
            </a:r>
          </a:p>
          <a:p>
            <a:r>
              <a:t>Validate the real true-positive uplift against filed SARs</a:t>
            </a:r>
          </a:p>
          <a:p>
            <a:pPr lvl="1"/>
            <a:r>
              <a:t>The real ML model's operating point is estimated to catch +319 more real laundering cases than the naive rule on LI-Medium (illustrative regulatory-exposure-avoidance ASSUMPTION: $15,950,000 ($15.95M)).</a:t>
            </a:r>
          </a:p>
          <a:p>
            <a:r>
              <a:t>Document the dominant real model driver for examiner review</a:t>
            </a:r>
          </a:p>
          <a:p>
            <a:pPr lvl="1"/>
            <a:r>
              <a:t>Real SHAP analysis ranks 'Payment Format' as the model's dominant real driver on LI-Medium.</a:t>
            </a:r>
          </a:p>
          <a:p>
            <a:r>
              <a:t>Maintain the real two-gate validation standard on every future retrain</a:t>
            </a:r>
          </a:p>
          <a:p>
            <a:pPr lvl="1"/>
            <a:r>
              <a:t>Every real dataset variant evaluated for BP1 currently passes both validation gates (HI-Small, LI-Medium).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Regulatory &amp; Compliance Mapping</a:t>
            </a:r>
          </a:p>
        </p:txBody>
      </p:sp>
      <p:sp>
        <p:nvSpPr>
          <p:cNvPr id="3" name="Content Placeholder 2"/>
          <p:cNvSpPr>
            <a:spLocks noGrp="1"/>
          </p:cNvSpPr>
          <p:nvPr>
            <p:ph idx="1"/>
          </p:nvPr>
        </p:nvSpPr>
        <p:spPr/>
        <p:txBody>
          <a:bodyPr/>
          <a:lstStyle/>
          <a:p>
            <a:r>
              <a:t>Bank Secrecy Act (31 U.S.C. Section 5311)</a:t>
            </a:r>
          </a:p>
          <a:p>
            <a:pPr lvl="1"/>
            <a:r>
              <a:t>USA PATRIOT Act Section 326 (CIP), Section 314(a)/(b) (BP1, BP5)</a:t>
            </a:r>
          </a:p>
          <a:p>
            <a:pPr lvl="1"/>
            <a:r>
              <a:t>FinCEN SAR filing requirements (31 CFR Section 1020.320) (BP1, BP2 (evidence feed, not itself a SAR-prediction model))</a:t>
            </a:r>
          </a:p>
          <a:p>
            <a:pPr lvl="1"/>
            <a:r>
              <a:t>OFAC sanctions-list screening (BP1, BP5)</a:t>
            </a:r>
          </a:p>
          <a:p>
            <a:pPr lvl="1"/>
            <a:r>
              <a:t>FFIEC BSA/AML Examination Manual (5 pillars) (Platform-wide)</a:t>
            </a:r>
          </a:p>
          <a:p>
            <a:pPr lvl="1"/>
            <a:r>
              <a:t>SR 11-7 Model Risk Management (Every model-bearing BP)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