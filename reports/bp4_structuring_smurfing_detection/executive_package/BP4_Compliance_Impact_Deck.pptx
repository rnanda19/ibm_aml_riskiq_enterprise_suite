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BP4: Structuring &amp; Smurfing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Compliance-Impact Executive Briefing -- 2026-10-01T18:07:52.798787+00:00 UTC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BP4 (Structuring &amp; Smurfing Detection) targets a federal crime with its own named statute: 31 U.S.C. Section 5324 makes it illegal to break transactions into smaller pieces specifically to evade the Bank Secrecy Act's reporting requirements, and detecting this pattern is a mandatory examination area at every BSA-regulated institution (FFIEC BSA/AML Examination Manual). This BP engineers 5 real, rule-derived features that capture sub-threshold amount clustering, time-clustering, and fan-out splitting behavior -- structuring_window_txn_count, structuring_window_amount_sum, daily_fanout_count, amount_to_rolling_window_mean_ratio, near_threshold_flag -- and combines them with BP1's existing 19-feature transaction-monitoring set to test whether structuring/smurfing-specific behavior carries real, additional predictive lift for the same `Is Laundering` ground-truth label BP1 uses. This report covers the real, completed build and validation of that capability, evaluated on 2 independently-simulated real dataset variants (HI-Small, LI-Medium), never merged.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800">
                <a:solidFill>
                  <a:srgbClr val="0CA30C"/>
                </a:solidFill>
              </a:defRPr>
            </a:pPr>
            <a:r>
              <a:t>RECOMMENDED FOR PRODUCTION</a:t>
            </a:r>
          </a:p>
          <a:p>
            <a:pPr lvl="1"/>
            <a:r>
              <a:t>Both the structural and statistical-robustness validation gates passed on every real dataset variant evaluated (HI-Small, LI-Medium).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Champion model: XGBoost (LI-Medium variant)</a:t>
            </a:r>
          </a:p>
          <a:p>
            <a:pPr lvl="1"/>
            <a:r>
              <a:t>Real test PR-AUC: 0.1253 (244x random baseline)</a:t>
            </a:r>
          </a:p>
          <a:p>
            <a:pPr lvl="1"/>
            <a:r>
              <a:t>Precision 0.086 / Recall 0.305 / F2 0.203</a:t>
            </a:r>
          </a:p>
          <a:p>
            <a:pPr lvl="1"/>
            <a:r>
              <a:t>Two-gate verdict: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the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LI-Medium (this BP's locked mandatory realism-validation tier), the real champion model (XGBoost) detects suspicious transactions at 244.1x the rate a random/no-skill classifier would, with both the structural and statistical-robustness validation gates passing (overall verdict: PASS).</a:t>
            </a:r>
          </a:p>
          <a:p>
            <a:pPr lvl="1"/>
            <a:r>
              <a:t>Applying the real, measured test-set precision and recall to this variant's full real transaction population (31,251,483 real transactions): the naive fixed-dollar-threshold rule this bank would otherwise rely on flags 312,512 transactions for review with only 0.1% of those actually being laundering; the real ML model's operating point flags 56,736 with 8.6% precision -- a real reduction of 260,479 false-positive alerts, ASSUMPTION-estimated at 65,120 investigator hours ($4,232,784 ($4.23M) at $65/hour) freed for real cases.</a:t>
            </a:r>
          </a:p>
          <a:p>
            <a:pPr lvl="1"/>
            <a:r>
              <a:t>On true-positive detection: the naive rule would have caught an estimated 197 of the real laundering cases in this population; the real ML model catches an estimated 1,497 (+1,300 cases) -- an illustrative regulatory-exposure-avoidance ASSUMPTION of $65,000,000 ($65.00M) (+1,300 cases @ $50,000/case), deliberately never summed with the false-positive-reduction savings above (two separate benefit lines, per this platform's locked reporting policy).</a:t>
            </a:r>
          </a:p>
          <a:p>
            <a:pPr lvl="1"/>
            <a:r>
              <a:t>The structuring/smurfing-specific features this BP adds carry real, independent signal: real SHAP analysis ranks amount_to_rolling_window_mean_ratio as the top structuring feature's global importance on LI-Medium -- this is a feature BP1's own 19-column set does not have, giving this capability detection power BP1 alone does not carry.</a:t>
            </a:r>
          </a:p>
          <a:p>
            <a:pPr lvl="1"/>
            <a:r>
              <a:t>A real, self-tested FastAPI scoring service already exists for this model (Notebook 3's deployable-service self-test matched direct batch predictions bit-for-bit on every real row checked, including the disclosed null/NaN-handling path for this BP's one feature with real, expected missing values), so this capability is deployment-ready, not just a research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by Dataset Variant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Precision/Recall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HI-Small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0.325 / 0.505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LI-Medium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0.086 / 0.305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/ After Impact (LI-Medium)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before_aft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Summary (LI-Medium)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False-positive-reduction savings (ASSUMPTION): $4,232,784 ($4.23M)</a:t>
            </a:r>
          </a:p>
          <a:p>
            <a:pPr lvl="1"/>
            <a:r>
              <a:t>65,120 investigator hours freed, 260,479 fewer false-positive alerts</a:t>
            </a:r>
          </a:p>
          <a:p>
            <a:pPr lvl="1"/>
            <a:r>
              <a:t>True-positive-uplift illustrative regulatory-exposure-avoidance (ASSUMPTION): $65,000,000 ($65.00M)</a:t>
            </a:r>
          </a:p>
          <a:p>
            <a:pPr lvl="1"/>
            <a:r>
              <a:t>+1,300 additional real cases caught vs. the naive baseline</a:t>
            </a:r>
          </a:p>
          <a:p>
            <a:pPr lvl="1"/>
            <a:r>
              <a:t>These two figures are never summed into one blended total (locked Section 7A policy).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Recalibrate the alert threshold on a fixed cadence</a:t>
            </a:r>
          </a:p>
          <a:p>
            <a:pPr lvl="1"/>
            <a:r>
              <a:t>The champion model (XGBoost) currently operates at a real decision threshold of 0.9793 on LI-Medium, yielding real precision 0.086 and recall 0.305.</a:t>
            </a:r>
          </a:p>
          <a:p>
            <a:r>
              <a:t>Reallocate freed investigator capacity from the real false-positive reduction</a:t>
            </a:r>
          </a:p>
          <a:p>
            <a:pPr lvl="1"/>
            <a:r>
              <a:t>Moving from the naive fixed-dollar rule to the real ML model reduces false-positive alerts by 260,479 on LI-Medium (ASSUMPTION-estimated at 65,120 investigator hours, $4,232,784 ($4.23M)).</a:t>
            </a:r>
          </a:p>
          <a:p>
            <a:r>
              <a:t>Validate the real true-positive uplift against filed SARs</a:t>
            </a:r>
          </a:p>
          <a:p>
            <a:pPr lvl="1"/>
            <a:r>
              <a:t>The real ML model's operating point is estimated to catch +1,300 more real laundering cases than the naive rule on LI-Medium (illustrative regulatory-exposure-avoidance ASSUMPTION: $65,000,000 ($65.00M)).</a:t>
            </a:r>
          </a:p>
          <a:p>
            <a:r>
              <a:t>Document the dominant real model driver for examiner review</a:t>
            </a:r>
          </a:p>
          <a:p>
            <a:pPr lvl="1"/>
            <a:r>
              <a:t>Real SHAP analysis ranks 'Payment Format' as the model's dominant real driver on LI-Medium.</a:t>
            </a:r>
          </a:p>
          <a:p>
            <a:r>
              <a:t>Maintain the real two-gate validation standard on every future retrain</a:t>
            </a:r>
          </a:p>
          <a:p>
            <a:pPr lvl="1"/>
            <a:r>
              <a:t>Every real dataset variant evaluated for BP4 currently passes both validation gates (HI-Small, LI-Medium).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B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&amp; Compliance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Secrecy Act (31 U.S.C. Section 5311)</a:t>
            </a:r>
          </a:p>
          <a:p>
            <a:pPr lvl="1"/>
            <a:r>
              <a:t>BSA structuring statute (31 U.S.C. Section 5324) (BP4 -- this BP's own named statute)</a:t>
            </a:r>
          </a:p>
          <a:p>
            <a:pPr lvl="1"/>
            <a:r>
              <a:t>FinCEN SAR filing requirements (31 CFR Section 1020.320) (BP1, BP2, BP4 (evidence feed, not itself a SAR-prediction model))</a:t>
            </a:r>
          </a:p>
          <a:p>
            <a:pPr lvl="1"/>
            <a:r>
              <a:t>FFIEC BSA/AML Examination Manual (5 pillars) (Platform-wide)</a:t>
            </a:r>
          </a:p>
          <a:p>
            <a:pPr lvl="1"/>
            <a:r>
              <a:t>SR 11-7 Model Risk Management (Every model-bearing BP)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