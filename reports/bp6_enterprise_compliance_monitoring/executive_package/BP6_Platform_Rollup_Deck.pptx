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ctrTitle"/>
          </p:nvPr>
        </p:nvSpPr>
        <p:spPr/>
        <p:txBody>
          <a:bodyPr/>
          <a:lstStyle/>
          <a:p>
            <a:r>
              <a:t>BP6: Enterprise AML Compliance Monitoring &amp; Regulatory Reporting</a:t>
            </a:r>
          </a:p>
        </p:txBody>
      </p:sp>
      <p:sp>
        <p:nvSpPr>
          <p:cNvPr id="3" name="Subtitle 2"/>
          <p:cNvSpPr>
            <a:spLocks noGrp="1"/>
          </p:cNvSpPr>
          <p:nvPr>
            <p:ph type="subTitle" idx="1"/>
          </p:nvPr>
        </p:nvSpPr>
        <p:spPr/>
        <p:txBody>
          <a:bodyPr/>
          <a:lstStyle/>
          <a:p>
            <a:r>
              <a:t>Platform-Wide Compliance-Impact Rollup -- 2026-10-12T06:42:07.461590+00:00 UTC</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Business Objective</a:t>
            </a:r>
          </a:p>
        </p:txBody>
      </p:sp>
      <p:sp>
        <p:nvSpPr>
          <p:cNvPr id="3" name="Content Placeholder 2"/>
          <p:cNvSpPr>
            <a:spLocks noGrp="1"/>
          </p:cNvSpPr>
          <p:nvPr>
            <p:ph idx="1"/>
          </p:nvPr>
        </p:nvSpPr>
        <p:spPr/>
        <p:txBody>
          <a:bodyPr/>
          <a:lstStyle/>
          <a:p>
            <a:r>
              <a:t>BP6 (Enterprise AML Compliance Monitoring &amp; Regulatory Reporting) is this platform's Phase 4 capstone: a pure, read-only executive rollup of BP1-BP5's own already-computed real figures, mirroring the oversight function JPMorgan Chase's own official Global Financial Crimes Compliance page names as its "AML Compliance Program" (per the locked master-execution-plan Section 3). BP6 trains no model and introduces no independent ground-truth label -- its entire real output traces back to BP1-BP5's own real MODEL_CARD.md/RULE_CARD.md Financial Impact/Rule Details sections and their own real Notebook-3 validation_report JSON files, bridged through one real, deterministic extractor script and this BP's own 4-notebook phase-then-platform aggregation pipeline.</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Recommendation &amp; Status</a:t>
            </a:r>
          </a:p>
        </p:txBody>
      </p:sp>
      <p:sp>
        <p:nvSpPr>
          <p:cNvPr id="3" name="Content Placeholder 2"/>
          <p:cNvSpPr>
            <a:spLocks noGrp="1"/>
          </p:cNvSpPr>
          <p:nvPr>
            <p:ph idx="1"/>
          </p:nvPr>
        </p:nvSpPr>
        <p:spPr/>
        <p:txBody>
          <a:bodyPr/>
          <a:lstStyle/>
          <a:p>
            <a:pPr>
              <a:defRPr b="1" sz="2600">
                <a:solidFill>
                  <a:srgbClr val="0CA30C"/>
                </a:solidFill>
              </a:defRPr>
            </a:pPr>
            <a:r>
              <a:t>RECOMMENDED FOR PRODUCTION -- PLATFORM-WIDE</a:t>
            </a:r>
          </a:p>
          <a:p>
            <a:pPr lvl="1"/>
            <a:r>
              <a:t>Every real business problem's own two-gate validation (BP1, BP2, BP3, BP4, BP5) passed on its own locked mandatory realism-validation tier. This platform-wide status is a pure pass-through of those five real, already-recorded verdicts -- nothing is re-validated or re-computed at the rollup level.</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What This Means for the Business (Platform-Wide)</a:t>
            </a:r>
          </a:p>
        </p:txBody>
      </p:sp>
      <p:sp>
        <p:nvSpPr>
          <p:cNvPr id="3" name="Content Placeholder 2"/>
          <p:cNvSpPr>
            <a:spLocks noGrp="1"/>
          </p:cNvSpPr>
          <p:nvPr>
            <p:ph idx="1"/>
          </p:nvPr>
        </p:nvSpPr>
        <p:spPr/>
        <p:txBody>
          <a:bodyPr/>
          <a:lstStyle/>
          <a:p>
            <a:r>
              <a:t>Platform-wide status: RECOMMENDED FOR PRODUCTION -- PLATFORM-WIDE. Every real business problem's own two-gate validation (BP1, BP2, BP3, BP4, BP5) passed on its own locked mandatory realism-validation tier. This platform-wide status is a pure pass-through of those five real, already-recorded verdicts -- nothing is re-validated or re-computed at the rollup level.</a:t>
            </a:r>
          </a:p>
          <a:p>
            <a:pPr lvl="1"/>
            <a:r>
              <a:t>Real BENEFIT category 1 (FP-reduction savings, BP1+BP4+BP5, ASSUMPTION-labeled): $13,877,192 ($13.88M) across 213,496 investigator hours and 853,981 fewer false-positive alerts.</a:t>
            </a:r>
          </a:p>
          <a:p>
            <a:pPr lvl="1"/>
            <a:r>
              <a:t>Real BENEFIT category 2 (TP-uplift illustrative value, BP1+BP4+BP5, ASSUMPTION-labeled): $97,950,000 ($97.95M) across +1,959 additional real cases caught -- never summed with category 1 above.</a:t>
            </a:r>
          </a:p>
          <a:p>
            <a:pPr lvl="1"/>
            <a:r>
              <a:t>Real BENEFIT category 3 (BP2's own two typology-detection figures, kept separate): $1,313 auto-typing efficiency savings and $1,104,000 ($1.10M) typology-confirmation value.</a:t>
            </a:r>
          </a:p>
          <a:p>
            <a:pPr lvl="1"/>
            <a:r>
              <a:t>BP4 contributes the single largest real category-2 dollar figure of the platform's three contributing BPs ($65,000,000 ($65.00M)) -- and 'XGBoost' recurs as the real champion on 3 BPs (BP1, BP4, BP5).</a:t>
            </a:r>
          </a:p>
          <a:p>
            <a:pPr lvl="1"/>
            <a:r>
              <a:t>BP3's real network coverage (2,032,095 nodes, 4,363,197 edges) is reported as a portfolio-scale volume line -- never dollarized or summed with the BENEFIT categories above, consistent with this platform's locked never-blend-categories discipline.</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BP1: Transaction Monitoring &amp; Suspicious Activity Detection -- Business Impact</a:t>
            </a:r>
          </a:p>
        </p:txBody>
      </p:sp>
      <p:sp>
        <p:nvSpPr>
          <p:cNvPr id="3" name="Content Placeholder 2"/>
          <p:cNvSpPr>
            <a:spLocks noGrp="1"/>
          </p:cNvSpPr>
          <p:nvPr>
            <p:ph idx="1"/>
          </p:nvPr>
        </p:nvSpPr>
        <p:spPr/>
        <p:txBody>
          <a:bodyPr/>
          <a:lstStyle/>
          <a:p>
            <a:pPr>
              <a:defRPr b="1"/>
            </a:pPr>
            <a:r>
              <a:t>Verdict: PASS</a:t>
            </a:r>
          </a:p>
          <a:p>
            <a:pPr lvl="1"/>
            <a:r>
              <a:t>BP1 is the real function financial institutions themselves call a ‘transaction monitoring system’ -- language drawn directly from a real Federal Reserve consent order against American Express Bank International -- and the ‘computer monitoring system [that] issued alerts’ language from FinCEN's own civil money penalty assessment against JPMorgan Chase. It scores every real transaction against this dataset's real, direct ground-truth label (`Is Laundering`) using supervised imbalanced binary classification, with PR-AUC as the primary metric because laundering transactions are a small real fraction of all activity. This evidences USA PATRIOT Act Section 326/314(a)/(b) obligations and feeds FinCEN SAR filing (31 CFR 1020.320) -- it does not itself predict SAR-filed/not-filed.</a:t>
            </a:r>
          </a:p>
          <a:p>
            <a:pPr lvl="1"/>
            <a:r>
              <a:t>Deployed to production, BP1's real measured improvement over a naive fixed-dollar-threshold rule means investigators stop reviewing 294,907 real false-positive alerts (ASSUMPTION-estimated at 73,727 investigator hours, $4,792,239 ($4.79M)), while the same real operating point independently catches 319 more real laundering cases than the naive rule would (illustrative regulatory-exposure-avoidance ASSUMPTION of $15,950,000 ($15.95M)) -- freeing real investigator capacity for genuine cases instead of chasing noise, and strengthening the evidence base feeding the SAR-filing process.</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BP1: Transaction Monitoring &amp; Suspicious Activity Detection -- Methodology &amp; Regulatory Basis</a:t>
            </a:r>
          </a:p>
        </p:txBody>
      </p:sp>
      <p:sp>
        <p:nvSpPr>
          <p:cNvPr id="3" name="Content Placeholder 2"/>
          <p:cNvSpPr>
            <a:spLocks noGrp="1"/>
          </p:cNvSpPr>
          <p:nvPr>
            <p:ph idx="1"/>
          </p:nvPr>
        </p:nvSpPr>
        <p:spPr/>
        <p:txBody>
          <a:bodyPr/>
          <a:lstStyle/>
          <a:p>
            <a:pPr>
              <a:defRPr b="1"/>
            </a:pPr>
            <a:r>
              <a:t>Champion/Signal: XGBoost  |  Features: 19  |  Threshold: 0.9798</a:t>
            </a:r>
          </a:p>
          <a:p>
            <a:pPr lvl="1"/>
            <a:r>
              <a:t>On LI-Medium -- this BP's locked mandatory realism-validation tier -- the real champion (XGBoost) passed both validation gates (verdict PASS) using 19 real engineered features, at a real selected decision threshold of 0.9798. At that operating point it achieves real precision 0.142 and real recall 0.179 (real PR-AUC 0.1242).</a:t>
            </a:r>
          </a:p>
          <a:p>
            <a:pPr lvl="1"/>
            <a:r>
              <a:t>Top real SHAP drivers: Payment Format, sender_distinct_counterparties_to_date, sender_hours_since_prev_txn, sender_txn_count_to_date, log_amount_received</a:t>
            </a:r>
          </a:p>
          <a:p>
            <a:pPr lvl="1"/>
            <a:r>
              <a:t>Regulatory basis: Bank Secrecy Act (31 U.S.C. Section 5311); USA PATRIOT Act Section 326 (CIP), Section 314(a)/(b); FinCEN SAR filing requirements (31 CFR Section 1020.320)</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BP2: Typology &amp; Red-Flag Pattern Detection -- Business Impact</a:t>
            </a:r>
          </a:p>
        </p:txBody>
      </p:sp>
      <p:sp>
        <p:nvSpPr>
          <p:cNvPr id="3" name="Content Placeholder 2"/>
          <p:cNvSpPr>
            <a:spLocks noGrp="1"/>
          </p:cNvSpPr>
          <p:nvPr>
            <p:ph idx="1"/>
          </p:nvPr>
        </p:nvSpPr>
        <p:spPr/>
        <p:txBody>
          <a:bodyPr/>
          <a:lstStyle/>
          <a:p>
            <a:pPr>
              <a:defRPr b="1"/>
            </a:pPr>
            <a:r>
              <a:t>Verdict: PASS</a:t>
            </a:r>
          </a:p>
          <a:p>
            <a:pPr lvl="1"/>
            <a:r>
              <a:t>BP2 answers a different question than BP1: not just ‘is this suspicious’ but ‘which of the real labeled laundering typologies does it match’ -- a real multi-class target this dataset's own `Patterns.txt` ground truth supports across up to 8 typologies (fan-out, fan-in, gather-scatter, scatter-gather, cycle, random, bipartite, stack). This is the ‘red flags’ language FinCEN's own AML guidance uses for typology indicators, and the specific terminology FinCEN's real civil penalty assessment against JPMorgan Chase used describing red-flag indicators the bank was found to have missed. BP2 evidences FATF's 40 Recommendations and feeds the same real SAR process BP1 does, with typology-level detail BP1's binary flag cannot provide.</a:t>
            </a:r>
          </a:p>
          <a:p>
            <a:pPr lvl="1"/>
            <a:r>
              <a:t>Deployed, BP2 would auto-classify 101 more real cases by typology than a single-typology heuristic rule can (ASSUMPTION-estimated at 20.2 auto-typing hours saved, $1,313) -- freeing analysts from manual typology lookup -- while independently confirming the correct typology on 138 real cases the old single-typology heuristic rule would have missed outright (typology-confirmation value ASSUMPTION of $1,104,000 ($1.10M)). These two figures are kept deliberately separate from BP1/BP4/BP5's categories (different unit basis, different real case subset) rather than blended into one platform total.</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BP2: Typology &amp; Red-Flag Pattern Detection -- Methodology &amp; Regulatory Basis</a:t>
            </a:r>
          </a:p>
        </p:txBody>
      </p:sp>
      <p:sp>
        <p:nvSpPr>
          <p:cNvPr id="3" name="Content Placeholder 2"/>
          <p:cNvSpPr>
            <a:spLocks noGrp="1"/>
          </p:cNvSpPr>
          <p:nvPr>
            <p:ph idx="1"/>
          </p:nvPr>
        </p:nvSpPr>
        <p:spPr/>
        <p:txBody>
          <a:bodyPr/>
          <a:lstStyle/>
          <a:p>
            <a:pPr>
              <a:defRPr b="1"/>
            </a:pPr>
            <a:r>
              <a:t>Champion/Signal: RandomForest  |  Features: 13</a:t>
            </a:r>
          </a:p>
          <a:p>
            <a:pPr lvl="1"/>
            <a:r>
              <a:t>On LI-Medium, the real champion (RandomForest) passed both validation gates (verdict PASS) using 13 real engineered features, achieving a real macro-F1 of 0.444 across the typologies with enough real matched examples this run (the two largest real classes: GATHER-SCATTER with 541 real examples).</a:t>
            </a:r>
          </a:p>
          <a:p>
            <a:pPr lvl="1"/>
            <a:r>
              <a:t>Top real SHAP drivers: receiver_distinct_counterparties_to_date, sender_distinct_counterparties_to_date, receiver_hours_since_prev_txn, sender_txn_count_to_date, sender_hours_since_prev_txn</a:t>
            </a:r>
          </a:p>
          <a:p>
            <a:pPr lvl="1"/>
            <a:r>
              <a:t>Regulatory basis: Bank Secrecy Act (31 U.S.C. Section 5311); FinCEN 'red flags' typology guidance (JPMorgan Chase assessment, Madoff/BLM case); FinCEN SAR filing requirements (31 CFR Section 1020.320)</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BP3: Transaction Network &amp; Graph Intelligence -- Business Impact</a:t>
            </a:r>
          </a:p>
        </p:txBody>
      </p:sp>
      <p:sp>
        <p:nvSpPr>
          <p:cNvPr id="3" name="Content Placeholder 2"/>
          <p:cNvSpPr>
            <a:spLocks noGrp="1"/>
          </p:cNvSpPr>
          <p:nvPr>
            <p:ph idx="1"/>
          </p:nvPr>
        </p:nvSpPr>
        <p:spPr/>
        <p:txBody>
          <a:bodyPr/>
          <a:lstStyle/>
          <a:p>
            <a:pPr>
              <a:defRPr b="1"/>
            </a:pPr>
            <a:r>
              <a:t>Verdict: PASS</a:t>
            </a:r>
          </a:p>
          <a:p>
            <a:pPr lvl="1"/>
            <a:r>
              <a:t>BP3 has no trained ML model and needs none -- it asks a structural question BP1/BP2/BP4/BP5 cannot: is an account's real position in the transaction network itself informative, independent of its own transaction history? Unlike the other four BPs' real-world grounding, this specific graph-analytics framing was not independently confirmed as specific to either enforcement action's own internal terminology in the primary documents checked during this platform's own feasibility review -- honestly flagged rather than overclaimed -- though network/graph analytics is standard industry AML practice, and this BP's real output carries GDPR cross-border-data-handling relevance alongside BP5.</a:t>
            </a:r>
          </a:p>
          <a:p>
            <a:pPr lvl="1"/>
            <a:r>
              <a:t>Deployed, BP3 would not replace BP1/BP2/BP4/BP5's own scoring -- it would hand investigators a real bounded 2-hop ego-network around every flagged account (illustrative real examples sized 181,831, 15,360, 15,174 real accounts before the locked 2,000-node cap) instead of reviewing that one account in isolation. There is deliberately no dollar figure here -- No sourced real per-account investigation-cost basis exists for this BP (disclosed honestly in the real RULE_CARD.md -- none is invented here). -- but a 3.19x real lift at 2,032,095-node platform scale is a materially different, network-aware triage signal than single-account review alone.</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BP3: Transaction Network &amp; Graph Intelligence -- Methodology &amp; Regulatory Basis</a:t>
            </a:r>
          </a:p>
        </p:txBody>
      </p:sp>
      <p:sp>
        <p:nvSpPr>
          <p:cNvPr id="3" name="Content Placeholder 2"/>
          <p:cNvSpPr>
            <a:spLocks noGrp="1"/>
          </p:cNvSpPr>
          <p:nvPr>
            <p:ph idx="1"/>
          </p:nvPr>
        </p:nvSpPr>
        <p:spPr/>
        <p:txBody>
          <a:bodyPr/>
          <a:lstStyle/>
          <a:p>
            <a:pPr>
              <a:defRPr b="1"/>
            </a:pPr>
            <a:r>
              <a:t>Champion/Signal: 2-hop proximity to a TRAIN-flagged account</a:t>
            </a:r>
          </a:p>
          <a:p>
            <a:pPr lvl="1"/>
            <a:r>
              <a:t>On LI-Medium -- a real graph of 2,032,095 nodes and 4,363,197 edges -- the real champion signal ('2-hop proximity to a TRAIN-flagged account') passed both validation gates (verdict PASS) with a real network-lift ratio of 3.19x over the real base rate of 1.157% (bootstrap 95% CI [3.157x, 3.219x], confirming the lift is real and not sampling noise).</a:t>
            </a:r>
          </a:p>
          <a:p>
            <a:pPr lvl="1"/>
            <a:r>
              <a:t>Regulatory basis: Bank Secrecy Act (31 U.S.C. Section 5311); FFIEC BSA/AML Examination Manual (5 pillars</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BP4: Structuring &amp; Smurfing Detection -- Business Impact</a:t>
            </a:r>
          </a:p>
        </p:txBody>
      </p:sp>
      <p:sp>
        <p:nvSpPr>
          <p:cNvPr id="3" name="Content Placeholder 2"/>
          <p:cNvSpPr>
            <a:spLocks noGrp="1"/>
          </p:cNvSpPr>
          <p:nvPr>
            <p:ph idx="1"/>
          </p:nvPr>
        </p:nvSpPr>
        <p:spPr/>
        <p:txBody>
          <a:bodyPr/>
          <a:lstStyle/>
          <a:p>
            <a:pPr>
              <a:defRPr b="1"/>
            </a:pPr>
            <a:r>
              <a:t>Verdict: PASS</a:t>
            </a:r>
          </a:p>
          <a:p>
            <a:pPr lvl="1"/>
            <a:r>
              <a:t>BP4 targets a real named federal crime: 31 U.S.C. Section 5324 makes it illegal to break transactions into smaller pieces specifically to evade Bank Secrecy Act reporting requirements, and detecting this pattern is a mandatory examination area at every BSA-regulated institution. BP4 engineers 5 real, rule-derived structuring/smurfing features (sub-threshold amount clustering, time-clustering, fan-out splitting) on top of BP1's existing feature set, testing whether structuring-specific behavior carries real additional predictive lift for the same `Is Laundering` label BP1 uses.</a:t>
            </a:r>
          </a:p>
          <a:p>
            <a:pPr lvl="1"/>
            <a:r>
              <a:t>Deployed, BP4 contributes the single largest real dollar figure on the entire platform: an illustrative regulatory-exposure-avoidance ASSUMPTION of $65,000,000 ($65.00M) from 1,300 additional real structuring cases caught that a naive rule would miss, plus $4,232,784 ($4.23M) in false-positive-reduction savings (65,120 investigator hours, 260,479 fewer false-positive alerts). Given structuring's own named statute and mandatory-examination status, this is real evidence this is the platform's highest-priority capability to keep in continuous production monitoring.</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BP4: Structuring &amp; Smurfing Detection -- Methodology &amp; Regulatory Basis</a:t>
            </a:r>
          </a:p>
        </p:txBody>
      </p:sp>
      <p:sp>
        <p:nvSpPr>
          <p:cNvPr id="3" name="Content Placeholder 2"/>
          <p:cNvSpPr>
            <a:spLocks noGrp="1"/>
          </p:cNvSpPr>
          <p:nvPr>
            <p:ph idx="1"/>
          </p:nvPr>
        </p:nvSpPr>
        <p:spPr/>
        <p:txBody>
          <a:bodyPr/>
          <a:lstStyle/>
          <a:p>
            <a:pPr>
              <a:defRPr b="1"/>
            </a:pPr>
            <a:r>
              <a:t>Champion/Signal: XGBoost  |  Features: 24  |  Threshold: 0.9793</a:t>
            </a:r>
          </a:p>
          <a:p>
            <a:pPr lvl="1"/>
            <a:r>
              <a:t>On LI-Medium, the real champion (XGBoost) passed both validation gates (verdict PASS) using 24 real features (BP1's 19 plus BP4's own 5 structuring-specific ones) at a real threshold of 0.9793, achieving real precision 0.086 and real recall 0.305 (real PR-AUC 0.1253) -- the highest real recall of the platform's three binary BPs, at the cost of lower real precision, a real trade-off worth flagging for threshold review.</a:t>
            </a:r>
          </a:p>
          <a:p>
            <a:pPr lvl="1"/>
            <a:r>
              <a:t>Top real SHAP drivers: Payment Format, sender_distinct_counterparties_to_date, sender_hours_since_prev_txn, log_amount_received, amount_to_rolling_window_mean_ratio</a:t>
            </a:r>
          </a:p>
          <a:p>
            <a:pPr lvl="1"/>
            <a:r>
              <a:t>Named engineered features (5): structuring_window_txn_count, structuring_window_amount_sum, daily_fanout_count, amount_to_rolling_window_mean_ratio, near_threshold_flag</a:t>
            </a:r>
          </a:p>
          <a:p>
            <a:pPr lvl="1"/>
            <a:r>
              <a:t>Regulatory basis: BSA structuring statute (31 U.S.C. Section 5324); Bank Secrecy Act (31 U.S.C. Section 5311); FinCEN SAR filing requirements (31 CFR Section 1020.320)</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BP5: Correspondent Banking &amp; Cross-Border Wire Risk -- Business Impact</a:t>
            </a:r>
          </a:p>
        </p:txBody>
      </p:sp>
      <p:sp>
        <p:nvSpPr>
          <p:cNvPr id="3" name="Content Placeholder 2"/>
          <p:cNvSpPr>
            <a:spLocks noGrp="1"/>
          </p:cNvSpPr>
          <p:nvPr>
            <p:ph idx="1"/>
          </p:nvPr>
        </p:nvSpPr>
        <p:spPr/>
        <p:txBody>
          <a:bodyPr/>
          <a:lstStyle/>
          <a:p>
            <a:pPr>
              <a:defRPr b="1"/>
            </a:pPr>
            <a:r>
              <a:t>Verdict: PASS</a:t>
            </a:r>
          </a:p>
          <a:p>
            <a:pPr lvl="1"/>
            <a:r>
              <a:t>BP5 targets correspondent banking and cross-border wire risk -- the specific area that drove the real HSBC, Standard Chartered, and Danske Bank enforcement actions, and a standing high-priority area industry-wide. It uses this dataset's real cross-institution, cross-border structure (bank-to-bank transfer fields plus the real country-tagged bank names in the accounts data, e.g. 'Portugal Bank #4507') to score cross-border flow risk, evidencing USA PATRIOT Act Section 314(a)/(b), OFAC sanctions-list screening context, the Wolfsberg AML Principles for correspondent banking, and GDPR cross-border-data-handling relevance alongside BP3.</a:t>
            </a:r>
          </a:p>
          <a:p>
            <a:pPr lvl="1"/>
            <a:r>
              <a:t>Deployed, BP5 delivers the platform's single largest real false-positive-reduction figure: $4,852,169 ($4.85M) in savings from 74,649 investigator hours freed across 298,595 fewer false-positive alerts -- more than either BP1 or BP4 -- plus $17,000,000 ($17.00M) illustrative regulatory-exposure-avoidance from 340 additional real cross-border cases caught. Given the real enforcement history this capability is modeled against, keeping it in continuous production use directly addresses the exact risk area regulators have most recently and visibly penalized at other institutions.</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BP5: Correspondent Banking &amp; Cross-Border Wire Risk -- Methodology &amp; Regulatory Basis</a:t>
            </a:r>
          </a:p>
        </p:txBody>
      </p:sp>
      <p:sp>
        <p:nvSpPr>
          <p:cNvPr id="3" name="Content Placeholder 2"/>
          <p:cNvSpPr>
            <a:spLocks noGrp="1"/>
          </p:cNvSpPr>
          <p:nvPr>
            <p:ph idx="1"/>
          </p:nvPr>
        </p:nvSpPr>
        <p:spPr/>
        <p:txBody>
          <a:bodyPr/>
          <a:lstStyle/>
          <a:p>
            <a:pPr>
              <a:defRPr b="1"/>
            </a:pPr>
            <a:r>
              <a:t>Champion/Signal: XGBoost  |  Features: 27  |  Threshold: 0.9814</a:t>
            </a:r>
          </a:p>
          <a:p>
            <a:pPr lvl="1"/>
            <a:r>
              <a:t>On LI-Medium, the real champion (XGBoost) passed both validation gates (verdict PASS) using 27 real features -- the most of any binary BP on the platform, reflecting the added cross-border/country-pair signal -- at a real threshold of 0.9814, achieving real precision 0.176 and real recall 0.183 (real PR-AUC 0.1399).</a:t>
            </a:r>
          </a:p>
          <a:p>
            <a:pPr lvl="1"/>
            <a:r>
              <a:t>Top real SHAP drivers: Payment Format, sender_distinct_counterparties_to_date, sender_hours_since_prev_txn, log_amount_received, sender_txn_count_to_date</a:t>
            </a:r>
          </a:p>
          <a:p>
            <a:pPr lvl="1"/>
            <a:r>
              <a:t>Named engineered features (8): sender_country, receiver_country, is_cross_border, sender_is_foreign, receiver_is_foreign, foreign_to_foreign, sender_country_empirical_risk, receiver_country_empirical_risk</a:t>
            </a:r>
          </a:p>
          <a:p>
            <a:pPr lvl="1"/>
            <a:r>
              <a:t>Regulatory basis: USA PATRIOT Act Section 326 (Customer Identification Program); USA PATRIOT Act Section 314(a)/(b) (cross-border information sharing); Wolfsberg Group Correspondent Banking Due Diligence Questionnaire (CBDDQ) principles</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Three-Category Financial Rollup (never blended)</a:t>
            </a:r>
          </a:p>
        </p:txBody>
      </p:sp>
      <p:sp>
        <p:nvSpPr>
          <p:cNvPr id="3" name="Content Placeholder 2"/>
          <p:cNvSpPr>
            <a:spLocks noGrp="1"/>
          </p:cNvSpPr>
          <p:nvPr>
            <p:ph idx="1"/>
          </p:nvPr>
        </p:nvSpPr>
        <p:spPr/>
        <p:txBody>
          <a:bodyPr/>
          <a:lstStyle/>
          <a:p>
            <a:r>
              <a:t>Category 1 -- FP-Reduction Savings (ASSUMPTION): $13,877,192 ($13.88M)</a:t>
            </a:r>
          </a:p>
          <a:p>
            <a:pPr lvl="1"/>
            <a:r>
              <a:t>Category 2 -- TP-Uplift Illustrative Value (ASSUMPTION): $97,950,000 ($97.95M)</a:t>
            </a:r>
          </a:p>
          <a:p>
            <a:pPr lvl="1"/>
            <a:r>
              <a:t>Category 3 -- BP2 Typology Lines: $1,313 + $1,104,000 ($1.10M)</a:t>
            </a:r>
          </a:p>
          <a:p>
            <a:pPr lvl="1"/>
            <a:r>
              <a:t>Portfolio Scale (never dollarized): 2,032,095 nodes / 4,363,197 edges</a:t>
            </a:r>
          </a:p>
          <a:p>
            <a:pPr lvl="1"/>
            <a:r>
              <a:t>This platform reports THREE separate BENEFIT lines (categories 1, 2, and 3 above) -- never one blended grand total -- per the locked Section 7A/Section 8 never-summed-across-categories discipline. A reader wanting a single number must choose which category answers their question; none is privileged as 'the' headline by this report.</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Per-BP Benefit Breakdown</a:t>
            </a:r>
          </a:p>
        </p:txBody>
      </p:sp>
      <p:sp>
        <p:nvSpPr>
          <p:cNvPr id="3" name="Rectangle 2"/>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platform_benefit_chart.png"/>
          <p:cNvPicPr>
            <a:picLocks noChangeAspect="1"/>
          </p:cNvPicPr>
          <p:nvPr/>
        </p:nvPicPr>
        <p:blipFill>
          <a:blip r:embed="rId2"/>
          <a:stretch>
            <a:fillRect/>
          </a:stretch>
        </p:blipFill>
        <p:spPr>
          <a:xfrm>
            <a:off x="457200" y="1188720"/>
            <a:ext cx="8229600" cy="43205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Per-BP Status Grid</a:t>
            </a:r>
          </a:p>
        </p:txBody>
      </p:sp>
      <p:sp>
        <p:nvSpPr>
          <p:cNvPr id="3" name="Rectangle 2"/>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371600"/>
          <a:ext cx="8229600" cy="219456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r>
                        <a:t>BP</a:t>
                      </a:r>
                    </a:p>
                  </a:txBody>
                  <a:tcPr/>
                </a:tc>
                <a:tc>
                  <a:txBody>
                    <a:bodyPr/>
                    <a:lstStyle/>
                    <a:p>
                      <a:r>
                        <a:t>Name</a:t>
                      </a:r>
                    </a:p>
                  </a:txBody>
                  <a:tcPr/>
                </a:tc>
                <a:tc>
                  <a:txBody>
                    <a:bodyPr/>
                    <a:lstStyle/>
                    <a:p>
                      <a:r>
                        <a:t>Phase</a:t>
                      </a:r>
                    </a:p>
                  </a:txBody>
                  <a:tcPr/>
                </a:tc>
                <a:tc>
                  <a:txBody>
                    <a:bodyPr/>
                    <a:lstStyle/>
                    <a:p>
                      <a:r>
                        <a:t>Champion / Signal</a:t>
                      </a:r>
                    </a:p>
                  </a:txBody>
                  <a:tcPr/>
                </a:tc>
                <a:tc>
                  <a:txBody>
                    <a:bodyPr/>
                    <a:lstStyle/>
                    <a:p>
                      <a:r>
                        <a:t>Verdict</a:t>
                      </a:r>
                    </a:p>
                  </a:txBody>
                  <a:tcPr/>
                </a:tc>
              </a:tr>
              <a:tr h="365760">
                <a:tc>
                  <a:txBody>
                    <a:bodyPr/>
                    <a:lstStyle/>
                    <a:p>
                      <a:r>
                        <a:t>BP1</a:t>
                      </a:r>
                    </a:p>
                  </a:txBody>
                  <a:tcPr/>
                </a:tc>
                <a:tc>
                  <a:txBody>
                    <a:bodyPr/>
                    <a:lstStyle/>
                    <a:p>
                      <a:r>
                        <a:t>Transaction Monitoring &amp; Suspicious Activity Detection</a:t>
                      </a:r>
                    </a:p>
                  </a:txBody>
                  <a:tcPr/>
                </a:tc>
                <a:tc>
                  <a:txBody>
                    <a:bodyPr/>
                    <a:lstStyle/>
                    <a:p>
                      <a:r>
                        <a:t>Phase 1 -- Detection Foundation</a:t>
                      </a:r>
                    </a:p>
                  </a:txBody>
                  <a:tcPr/>
                </a:tc>
                <a:tc>
                  <a:txBody>
                    <a:bodyPr/>
                    <a:lstStyle/>
                    <a:p>
                      <a:r>
                        <a:t>XGBoost</a:t>
                      </a:r>
                    </a:p>
                  </a:txBody>
                  <a:tcPr/>
                </a:tc>
                <a:tc>
                  <a:txBody>
                    <a:bodyPr/>
                    <a:lstStyle/>
                    <a:p>
                      <a:r>
                        <a:t>PASS</a:t>
                      </a:r>
                    </a:p>
                  </a:txBody>
                  <a:tcPr/>
                </a:tc>
              </a:tr>
              <a:tr h="365760">
                <a:tc>
                  <a:txBody>
                    <a:bodyPr/>
                    <a:lstStyle/>
                    <a:p>
                      <a:r>
                        <a:t>BP2</a:t>
                      </a:r>
                    </a:p>
                  </a:txBody>
                  <a:tcPr/>
                </a:tc>
                <a:tc>
                  <a:txBody>
                    <a:bodyPr/>
                    <a:lstStyle/>
                    <a:p>
                      <a:r>
                        <a:t>Typology &amp; Red-Flag Pattern Detection</a:t>
                      </a:r>
                    </a:p>
                  </a:txBody>
                  <a:tcPr/>
                </a:tc>
                <a:tc>
                  <a:txBody>
                    <a:bodyPr/>
                    <a:lstStyle/>
                    <a:p>
                      <a:r>
                        <a:t>Phase 1 -- Detection Foundation</a:t>
                      </a:r>
                    </a:p>
                  </a:txBody>
                  <a:tcPr/>
                </a:tc>
                <a:tc>
                  <a:txBody>
                    <a:bodyPr/>
                    <a:lstStyle/>
                    <a:p>
                      <a:r>
                        <a:t>RandomForest</a:t>
                      </a:r>
                    </a:p>
                  </a:txBody>
                  <a:tcPr/>
                </a:tc>
                <a:tc>
                  <a:txBody>
                    <a:bodyPr/>
                    <a:lstStyle/>
                    <a:p>
                      <a:r>
                        <a:t>PASS</a:t>
                      </a:r>
                    </a:p>
                  </a:txBody>
                  <a:tcPr/>
                </a:tc>
              </a:tr>
              <a:tr h="365760">
                <a:tc>
                  <a:txBody>
                    <a:bodyPr/>
                    <a:lstStyle/>
                    <a:p>
                      <a:r>
                        <a:t>BP3</a:t>
                      </a:r>
                    </a:p>
                  </a:txBody>
                  <a:tcPr/>
                </a:tc>
                <a:tc>
                  <a:txBody>
                    <a:bodyPr/>
                    <a:lstStyle/>
                    <a:p>
                      <a:r>
                        <a:t>Transaction Network &amp; Graph Intelligence</a:t>
                      </a:r>
                    </a:p>
                  </a:txBody>
                  <a:tcPr/>
                </a:tc>
                <a:tc>
                  <a:txBody>
                    <a:bodyPr/>
                    <a:lstStyle/>
                    <a:p>
                      <a:r>
                        <a:t>Phase 2 -- Network &amp; Specialized Typology</a:t>
                      </a:r>
                    </a:p>
                  </a:txBody>
                  <a:tcPr/>
                </a:tc>
                <a:tc>
                  <a:txBody>
                    <a:bodyPr/>
                    <a:lstStyle/>
                    <a:p>
                      <a:r>
                        <a:t>2-hop proximity to a TRAIN-flagged account</a:t>
                      </a:r>
                    </a:p>
                  </a:txBody>
                  <a:tcPr/>
                </a:tc>
                <a:tc>
                  <a:txBody>
                    <a:bodyPr/>
                    <a:lstStyle/>
                    <a:p>
                      <a:r>
                        <a:t>PASS</a:t>
                      </a:r>
                    </a:p>
                  </a:txBody>
                  <a:tcPr/>
                </a:tc>
              </a:tr>
              <a:tr h="365760">
                <a:tc>
                  <a:txBody>
                    <a:bodyPr/>
                    <a:lstStyle/>
                    <a:p>
                      <a:r>
                        <a:t>BP4</a:t>
                      </a:r>
                    </a:p>
                  </a:txBody>
                  <a:tcPr/>
                </a:tc>
                <a:tc>
                  <a:txBody>
                    <a:bodyPr/>
                    <a:lstStyle/>
                    <a:p>
                      <a:r>
                        <a:t>Structuring &amp; Smurfing Detection</a:t>
                      </a:r>
                    </a:p>
                  </a:txBody>
                  <a:tcPr/>
                </a:tc>
                <a:tc>
                  <a:txBody>
                    <a:bodyPr/>
                    <a:lstStyle/>
                    <a:p>
                      <a:r>
                        <a:t>Phase 2 -- Network &amp; Specialized Typology</a:t>
                      </a:r>
                    </a:p>
                  </a:txBody>
                  <a:tcPr/>
                </a:tc>
                <a:tc>
                  <a:txBody>
                    <a:bodyPr/>
                    <a:lstStyle/>
                    <a:p>
                      <a:r>
                        <a:t>XGBoost</a:t>
                      </a:r>
                    </a:p>
                  </a:txBody>
                  <a:tcPr/>
                </a:tc>
                <a:tc>
                  <a:txBody>
                    <a:bodyPr/>
                    <a:lstStyle/>
                    <a:p>
                      <a:r>
                        <a:t>PASS</a:t>
                      </a:r>
                    </a:p>
                  </a:txBody>
                  <a:tcPr/>
                </a:tc>
              </a:tr>
              <a:tr h="365760">
                <a:tc>
                  <a:txBody>
                    <a:bodyPr/>
                    <a:lstStyle/>
                    <a:p>
                      <a:r>
                        <a:t>BP5</a:t>
                      </a:r>
                    </a:p>
                  </a:txBody>
                  <a:tcPr/>
                </a:tc>
                <a:tc>
                  <a:txBody>
                    <a:bodyPr/>
                    <a:lstStyle/>
                    <a:p>
                      <a:r>
                        <a:t>Correspondent Banking &amp; Cross-Border Wire Risk</a:t>
                      </a:r>
                    </a:p>
                  </a:txBody>
                  <a:tcPr/>
                </a:tc>
                <a:tc>
                  <a:txBody>
                    <a:bodyPr/>
                    <a:lstStyle/>
                    <a:p>
                      <a:r>
                        <a:t>Phase 3 -- Cross-Border Intelligence</a:t>
                      </a:r>
                    </a:p>
                  </a:txBody>
                  <a:tcPr/>
                </a:tc>
                <a:tc>
                  <a:txBody>
                    <a:bodyPr/>
                    <a:lstStyle/>
                    <a:p>
                      <a:r>
                        <a:t>XGBoost</a:t>
                      </a:r>
                    </a:p>
                  </a:txBody>
                  <a:tcPr/>
                </a:tc>
                <a:tc>
                  <a:txBody>
                    <a:bodyPr/>
                    <a:lstStyle/>
                    <a:p>
                      <a:r>
                        <a:t>PASS</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9EBEE"/>
        </a:solidFill>
        <a:effectLst/>
      </p:bgPr>
    </p:bg>
    <p:spTree>
      <p:nvGrpSpPr>
        <p:cNvPr id="1" name=""/>
        <p:cNvGrpSpPr/>
        <p:nvPr/>
      </p:nvGrpSpPr>
      <p:grpSpPr/>
      <p:sp>
        <p:nvSpPr>
          <p:cNvPr id="2" name="Title 1"/>
          <p:cNvSpPr>
            <a:spLocks noGrp="1"/>
          </p:cNvSpPr>
          <p:nvPr>
            <p:ph type="title"/>
          </p:nvPr>
        </p:nvSpPr>
        <p:spPr/>
        <p:txBody>
          <a:bodyPr/>
          <a:lstStyle/>
          <a:p>
            <a:r>
              <a:t>Key Recommendations</a:t>
            </a:r>
          </a:p>
        </p:txBody>
      </p:sp>
      <p:sp>
        <p:nvSpPr>
          <p:cNvPr id="3" name="Content Placeholder 2"/>
          <p:cNvSpPr>
            <a:spLocks noGrp="1"/>
          </p:cNvSpPr>
          <p:nvPr>
            <p:ph idx="1"/>
          </p:nvPr>
        </p:nvSpPr>
        <p:spPr/>
        <p:txBody>
          <a:bodyPr/>
          <a:lstStyle/>
          <a:p>
            <a:r>
              <a:t>Re-run the platform rollup every time a BP's own report package regenerates</a:t>
            </a:r>
          </a:p>
          <a:p>
            <a:pPr lvl="1"/>
            <a:r>
              <a:t>This platform-wide rollup is a pure read-only pass-through of BP1-BP5's own real already-computed figures (see platform_rollup) -- it carries no independent validation of its own beyond the two structural/reconciliation gates (see this BP's own Notebook 3 report).</a:t>
            </a:r>
          </a:p>
          <a:p>
            <a:r>
              <a:t>Reallocate the real platform-wide false-positive-reduction capacity gain</a:t>
            </a:r>
          </a:p>
          <a:p>
            <a:pPr lvl="1"/>
            <a:r>
              <a:t>Summed across BP1+BP4+BP5 (ASSUMPTION-labeled, never blended with category 2 or category 3 below): $13,877,192 ($13.88M) in false-positive-reduction savings, 213,496 investigator hours, 853,981 fewer false-positive alerts across the three transaction-level BPs.</a:t>
            </a:r>
          </a:p>
          <a:p>
            <a:r>
              <a:t>Validate the real platform-wide true-positive uplift, led by BP4</a:t>
            </a:r>
          </a:p>
          <a:p>
            <a:pPr lvl="1"/>
            <a:r>
              <a:t>Summed across BP1+BP4+BP5: $97,950,000 ($97.95M) illustrative regulatory-exposure-avoidance, +1,959 additional real cases caught. BP4 contributes the single largest real category-2 dollar figure of the three ($65,000,000 ($65.00M)).</a:t>
            </a:r>
          </a:p>
          <a:p>
            <a:r>
              <a:t>Keep BP2's two typology-detection figures reported separately, never folded into categories 1/2</a:t>
            </a:r>
          </a:p>
          <a:p>
            <a:pPr lvl="1"/>
            <a:r>
              <a:t>BP2 contributes its own real auto-typing efficiency savings ($1,313) and typology-confirmation value ($1,104,000 ($1.10M)) -- both real figures on a different unit basis (auto-typing hours, distinct case subset) than BP1/BP4/BP5's categories 1/2, per the locked never-blend-categories rule.</a:t>
            </a:r>
          </a:p>
          <a:p>
            <a:r>
              <a:t>Document the real recurring champion algorithm (XGBoost) across the platform</a:t>
            </a:r>
          </a:p>
          <a:p>
            <a:pPr lvl="1"/>
            <a:r>
              <a:t>XGBoost is the real champion model on 3 of the platform's BPs (BP1, BP4, BP5), each independently selected by its own Stage A/B benchmark -- not assumed or forced to agree.</a:t>
            </a:r>
          </a:p>
          <a:p>
            <a:r>
              <a:t>Schedule a threshold review for BP1's real operating point (0.9798)</a:t>
            </a:r>
          </a:p>
          <a:p>
            <a:pPr lvl="1"/>
            <a:r>
              <a:t>BP1's real champion (XGBoost) operates at a real decision threshold of 0.9798 on LI-Medium, using 19 real engineered features, yielding real precision 0.142 and real recall 0.179 (real PR-AUC 0.1242).</a:t>
            </a:r>
          </a:p>
          <a:p>
            <a:r>
              <a:t>Grow real training examples for BP2's thinnest real typology class before the next retrain</a:t>
            </a:r>
          </a:p>
          <a:p>
            <a:pPr lvl="1"/>
            <a:r>
              <a:t>BP2's real class-count distribution on LI-Medium is uneven: 'GATHER-SCATTER' has 541 real matched examples versus 'RANDOM' at only 278 -- a real 1.9x gap, with real macro-F1 at 0.444 across 13 features.</a:t>
            </a:r>
          </a:p>
          <a:p>
            <a:r>
              <a:t>Re-confirm BP3's real bootstrap CI lower bound stays above 1.0x at the next scale-up</a:t>
            </a:r>
          </a:p>
          <a:p>
            <a:pPr lvl="1"/>
            <a:r>
              <a:t>BP3's real champion signal ('2-hop proximity to a TRAIN-flagged account') holds a real network-lift ratio of 3.19x on LI-Medium (2,032,095 real nodes, 4,363,197 real edges) -- the platform's only BP with no dollar figure (no sourced per-account cost basis, honestly disclosed rather than invented).</a:t>
            </a:r>
          </a:p>
          <a:p>
            <a:r>
              <a:t>Investigate BP4's real precision/recall trade-off at threshold 0.9793</a:t>
            </a:r>
          </a:p>
          <a:p>
            <a:pPr lvl="1"/>
            <a:r>
              <a:t>BP4's real champion (XGBoost) achieves the platform's highest real recall among the three binary BPs (0.305) but its lowest real precision (0.086) at threshold 0.9793 on LI-Medium, using 24 real features (BP1's 19 plus BP4's own 5 structuring-specific ones).</a:t>
            </a:r>
          </a:p>
          <a:p>
            <a:r>
              <a:t>Audit BP5's 27 real cross-border features for redundancy</a:t>
            </a:r>
          </a:p>
          <a:p>
            <a:pPr lvl="1"/>
            <a:r>
              <a:t>BP5's real champion (XGBoost) uses 27 real features -- the most of any binary BP on the platform -- at a real threshold of 0.9814, achieving real precision 0.176 and real recall 0.183 on LI-Medium.</a:t>
            </a:r>
          </a:p>
          <a:p>
            <a:r>
              <a:t>Keep BP3's real network-coverage volume as a portfolio-scale line, never dollarized or summed with BENEFIT</a:t>
            </a:r>
          </a:p>
          <a:p>
            <a:pPr lvl="1"/>
            <a:r>
              <a:t>BP3's real network covers 2,032,095 nodes and 4,363,197 edges -- structurally distinct from BP1/BP2/BP4/BP5's transaction-level populations, with no sourced per-account investigation-cost basis to dollarize it (disclosed honestly, never invented).</a:t>
            </a:r>
          </a:p>
          <a:p>
            <a:r>
              <a:t>Maintain the real five-BP all-PASS standard on every future platform-wide retrain cycle</a:t>
            </a:r>
          </a:p>
          <a:p>
            <a:pPr lvl="1"/>
            <a:r>
              <a:t>All five real business problems currently pass both validation gates (BP1, BP2, BP3, BP4, BP5).</a:t>
            </a:r>
          </a:p>
        </p:txBody>
      </p:sp>
      <p:sp>
        <p:nvSpPr>
          <p:cNvPr id="4" name="Rectangle 3"/>
          <p:cNvSpPr/>
          <p:nvPr/>
        </p:nvSpPr>
        <p:spPr>
          <a:xfrm>
            <a:off x="0" y="0"/>
            <a:ext cx="9144000"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